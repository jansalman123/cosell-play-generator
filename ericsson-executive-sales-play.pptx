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1E8"/>
          </a:solidFill>
          <a:ln/>
        </p:spPr>
      </p:sp>
      <p:sp>
        <p:nvSpPr>
          <p:cNvPr id="3" name="Text 1"/>
          <p:cNvSpPr/>
          <p:nvPr/>
        </p:nvSpPr>
        <p:spPr>
          <a:xfrm>
            <a:off x="685800" y="777240"/>
            <a:ext cx="5943600" cy="548640"/>
          </a:xfrm>
          <a:prstGeom prst="rect">
            <a:avLst/>
          </a:prstGeom>
          <a:noFill/>
          <a:ln/>
        </p:spPr>
        <p:txBody>
          <a:bodyPr wrap="square" rtlCol="0" anchor="ctr"/>
          <a:lstStyle/>
          <a:p>
            <a:pPr indent="0" marL="0">
              <a:buNone/>
            </a:pPr>
            <a:r>
              <a:rPr lang="en-US" sz="1600" dirty="0">
                <a:solidFill>
                  <a:srgbClr val="627389"/>
                </a:solidFill>
                <a:latin typeface="Aptos Display" pitchFamily="34" charset="0"/>
                <a:ea typeface="Aptos Display" pitchFamily="34" charset="-122"/>
                <a:cs typeface="Aptos Display" pitchFamily="34" charset="-120"/>
              </a:rPr>
              <a:t>Cognizant GCP Playbook</a:t>
            </a:r>
            <a:endParaRPr lang="en-US" sz="1600" dirty="0"/>
          </a:p>
        </p:txBody>
      </p:sp>
      <p:sp>
        <p:nvSpPr>
          <p:cNvPr id="4" name="Text 2"/>
          <p:cNvSpPr/>
          <p:nvPr/>
        </p:nvSpPr>
        <p:spPr>
          <a:xfrm>
            <a:off x="685800" y="1417320"/>
            <a:ext cx="6400800" cy="1280160"/>
          </a:xfrm>
          <a:prstGeom prst="rect">
            <a:avLst/>
          </a:prstGeom>
          <a:noFill/>
          <a:ln/>
        </p:spPr>
        <p:txBody>
          <a:bodyPr wrap="square" rtlCol="0" anchor="ctr">
            <a:normAutofit/>
          </a:bodyPr>
          <a:lstStyle/>
          <a:p>
            <a:pPr indent="0" marL="0">
              <a:buNone/>
            </a:pPr>
            <a:r>
              <a:rPr lang="en-US" sz="2600" b="1" dirty="0">
                <a:solidFill>
                  <a:srgbClr val="17263B"/>
                </a:solidFill>
                <a:latin typeface="Aptos Display" pitchFamily="34" charset="0"/>
                <a:ea typeface="Aptos Display" pitchFamily="34" charset="-122"/>
                <a:cs typeface="Aptos Display" pitchFamily="34" charset="-120"/>
              </a:rPr>
              <a:t>Ericsson: Transform a service quality and operating leverage co-sell motion</a:t>
            </a:r>
            <a:endParaRPr lang="en-US" sz="2600" dirty="0"/>
          </a:p>
        </p:txBody>
      </p:sp>
      <p:sp>
        <p:nvSpPr>
          <p:cNvPr id="5" name="Text 3"/>
          <p:cNvSpPr/>
          <p:nvPr/>
        </p:nvSpPr>
        <p:spPr>
          <a:xfrm>
            <a:off x="685800" y="2880360"/>
            <a:ext cx="6126480" cy="1097280"/>
          </a:xfrm>
          <a:prstGeom prst="rect">
            <a:avLst/>
          </a:prstGeom>
          <a:noFill/>
          <a:ln/>
        </p:spPr>
        <p:txBody>
          <a:bodyPr wrap="square" rtlCol="0" anchor="ctr">
            <a:normAutofit/>
          </a:bodyPr>
          <a:lstStyle/>
          <a:p>
            <a:pPr indent="0" marL="0">
              <a:buNone/>
            </a:pPr>
            <a:r>
              <a:rPr lang="en-US" sz="1600" dirty="0">
                <a:solidFill>
                  <a:srgbClr val="627389"/>
                </a:solidFill>
                <a:latin typeface="Aptos" pitchFamily="34" charset="0"/>
                <a:ea typeface="Aptos" pitchFamily="34" charset="-122"/>
                <a:cs typeface="Aptos" pitchFamily="34" charset="-120"/>
              </a:rPr>
              <a:t>AI-assisted service operations and data-to-action modernization for large support environments. Start with customer service reinvention and expand into a broader Google Cloud plus Cognizant roadmap.</a:t>
            </a:r>
            <a:endParaRPr lang="en-US" sz="1600" dirty="0"/>
          </a:p>
        </p:txBody>
      </p:sp>
      <p:sp>
        <p:nvSpPr>
          <p:cNvPr id="6" name="Shape 4"/>
          <p:cNvSpPr/>
          <p:nvPr/>
        </p:nvSpPr>
        <p:spPr>
          <a:xfrm>
            <a:off x="7315200" y="914400"/>
            <a:ext cx="4069080" cy="1828800"/>
          </a:xfrm>
          <a:prstGeom prst="roundRect">
            <a:avLst>
              <a:gd name="adj" fmla="val 6000"/>
            </a:avLst>
          </a:prstGeom>
          <a:solidFill>
            <a:srgbClr val="FFFDFA"/>
          </a:solidFill>
          <a:ln w="12700">
            <a:solidFill>
              <a:srgbClr val="D8DEE8"/>
            </a:solidFill>
            <a:prstDash val="solid"/>
          </a:ln>
        </p:spPr>
      </p:sp>
      <p:sp>
        <p:nvSpPr>
          <p:cNvPr id="7" name="Text 5"/>
          <p:cNvSpPr/>
          <p:nvPr/>
        </p:nvSpPr>
        <p:spPr>
          <a:xfrm>
            <a:off x="7479792" y="1024128"/>
            <a:ext cx="37398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Why now</a:t>
            </a:r>
            <a:endParaRPr lang="en-US" sz="1000" dirty="0"/>
          </a:p>
        </p:txBody>
      </p:sp>
      <p:sp>
        <p:nvSpPr>
          <p:cNvPr id="8" name="Text 6"/>
          <p:cNvSpPr/>
          <p:nvPr/>
        </p:nvSpPr>
        <p:spPr>
          <a:xfrm>
            <a:off x="7479792" y="1325880"/>
            <a:ext cx="373989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Large service teams and network operations create immediate demand for copilots, routing intelligence, and better knowledge access. The stated environment is cloud modernization in motion; analytics and data consolidation agenda; AI-ready platform interest; fragmented enterprise data; reporting and workflow dependencies; need for governed AI inputs, so the motion should emphasize low-friction entry and visible business outcomes.</a:t>
            </a:r>
            <a:endParaRPr lang="en-US" sz="1500" dirty="0"/>
          </a:p>
        </p:txBody>
      </p:sp>
      <p:sp>
        <p:nvSpPr>
          <p:cNvPr id="9" name="Shape 7"/>
          <p:cNvSpPr/>
          <p:nvPr/>
        </p:nvSpPr>
        <p:spPr>
          <a:xfrm>
            <a:off x="7315200" y="3017520"/>
            <a:ext cx="4069080" cy="2011680"/>
          </a:xfrm>
          <a:prstGeom prst="roundRect">
            <a:avLst>
              <a:gd name="adj" fmla="val 5455"/>
            </a:avLst>
          </a:prstGeom>
          <a:solidFill>
            <a:srgbClr val="FFFDFA"/>
          </a:solidFill>
          <a:ln w="12700">
            <a:solidFill>
              <a:srgbClr val="D8DEE8"/>
            </a:solidFill>
            <a:prstDash val="solid"/>
          </a:ln>
        </p:spPr>
      </p:sp>
      <p:sp>
        <p:nvSpPr>
          <p:cNvPr id="10" name="Text 8"/>
          <p:cNvSpPr/>
          <p:nvPr/>
        </p:nvSpPr>
        <p:spPr>
          <a:xfrm>
            <a:off x="7479792" y="3127248"/>
            <a:ext cx="37398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Partner thesis</a:t>
            </a:r>
            <a:endParaRPr lang="en-US" sz="1000" dirty="0"/>
          </a:p>
        </p:txBody>
      </p:sp>
      <p:sp>
        <p:nvSpPr>
          <p:cNvPr id="11" name="Text 9"/>
          <p:cNvSpPr/>
          <p:nvPr/>
        </p:nvSpPr>
        <p:spPr>
          <a:xfrm>
            <a:off x="7479792" y="3429000"/>
            <a:ext cx="3739896" cy="14996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Google Cloud brings the AI platform and product credibility. Cognizant closes execution risk with industry context, operating-model design, and adoption muscle for Ericsson.</a:t>
            </a:r>
            <a:endParaRPr lang="en-US" sz="1500" dirty="0"/>
          </a:p>
        </p:txBody>
      </p:sp>
      <p:sp>
        <p:nvSpPr>
          <p:cNvPr id="12" name="Text 10"/>
          <p:cNvSpPr/>
          <p:nvPr/>
        </p:nvSpPr>
        <p:spPr>
          <a:xfrm>
            <a:off x="685800" y="6080760"/>
            <a:ext cx="1828800" cy="228600"/>
          </a:xfrm>
          <a:prstGeom prst="rect">
            <a:avLst/>
          </a:prstGeom>
          <a:noFill/>
          <a:ln/>
        </p:spPr>
        <p:txBody>
          <a:bodyPr wrap="square" rtlCol="0" anchor="ctr"/>
          <a:lstStyle/>
          <a:p>
            <a:pPr indent="0" marL="0">
              <a:buNone/>
            </a:pPr>
            <a:r>
              <a:rPr lang="en-US" sz="900" dirty="0">
                <a:solidFill>
                  <a:srgbClr val="627389"/>
                </a:solidFill>
              </a:rPr>
              <a:t>Research mode: DEMO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Account Signals</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Ericsson</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Text 3"/>
          <p:cNvSpPr/>
          <p:nvPr/>
        </p:nvSpPr>
        <p:spPr>
          <a:xfrm>
            <a:off x="685800" y="1600200"/>
            <a:ext cx="5303520" cy="4389120"/>
          </a:xfrm>
          <a:prstGeom prst="rect">
            <a:avLst/>
          </a:prstGeom>
          <a:noFill/>
          <a:ln/>
        </p:spPr>
        <p:txBody>
          <a:bodyPr wrap="square" lIns="38100" tIns="38100" rIns="38100" bIns="38100" rtlCol="0" anchor="t"/>
          <a:lstStyle/>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Support leaders often own the clearest first-wave AI use cases.</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Platform teams care about operating consistency across analytics, models, and governance.</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Co-sell traction rises when the pitch connects customer care and back-office simplification.</a:t>
            </a:r>
            <a:endParaRPr lang="en-US" sz="1600" dirty="0"/>
          </a:p>
          <a:p>
            <a:pPr marL="177800" indent="-177800">
              <a:spcAft>
                <a:spcPts val="1000"/>
              </a:spcAft>
              <a:buSzPct val="100000"/>
              <a:buChar char="•"/>
            </a:pPr>
            <a:r>
              <a:rPr lang="en-US" sz="1600" dirty="0">
                <a:solidFill>
                  <a:srgbClr val="17263B"/>
                </a:solidFill>
                <a:latin typeface="Aptos" pitchFamily="34" charset="0"/>
                <a:ea typeface="Aptos" pitchFamily="34" charset="-122"/>
                <a:cs typeface="Aptos" pitchFamily="34" charset="-120"/>
              </a:rPr>
              <a:t>Buying posture is transform, which suggests the opening conversation should be framed around service quality and operating leverage rather than abstract AI vision.</a:t>
            </a:r>
            <a:endParaRPr lang="en-US" sz="1600" dirty="0"/>
          </a:p>
        </p:txBody>
      </p:sp>
      <p:sp>
        <p:nvSpPr>
          <p:cNvPr id="6" name="Shape 4"/>
          <p:cNvSpPr/>
          <p:nvPr/>
        </p:nvSpPr>
        <p:spPr>
          <a:xfrm>
            <a:off x="6492240" y="1645920"/>
            <a:ext cx="4937760" cy="1783080"/>
          </a:xfrm>
          <a:prstGeom prst="roundRect">
            <a:avLst>
              <a:gd name="adj" fmla="val 6154"/>
            </a:avLst>
          </a:prstGeom>
          <a:solidFill>
            <a:srgbClr val="FFFDFA"/>
          </a:solidFill>
          <a:ln w="12700">
            <a:solidFill>
              <a:srgbClr val="D8DEE8"/>
            </a:solidFill>
            <a:prstDash val="solid"/>
          </a:ln>
        </p:spPr>
      </p:sp>
      <p:sp>
        <p:nvSpPr>
          <p:cNvPr id="7" name="Text 5"/>
          <p:cNvSpPr/>
          <p:nvPr/>
        </p:nvSpPr>
        <p:spPr>
          <a:xfrm>
            <a:off x="6656832" y="1755648"/>
            <a:ext cx="460857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Executive talk track</a:t>
            </a:r>
            <a:endParaRPr lang="en-US" sz="1000" dirty="0"/>
          </a:p>
        </p:txBody>
      </p:sp>
      <p:sp>
        <p:nvSpPr>
          <p:cNvPr id="8" name="Text 6"/>
          <p:cNvSpPr/>
          <p:nvPr/>
        </p:nvSpPr>
        <p:spPr>
          <a:xfrm>
            <a:off x="6656832" y="2057400"/>
            <a:ext cx="4608576" cy="12710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Ericsson does not need another AI pilot. The better story is a governed business outcome: Google Cloud provides the AI foundation and Cognizant helps your team operationalize it quickly, with the right workflow design, controls, and change support.</a:t>
            </a:r>
            <a:endParaRPr lang="en-US" sz="1500" dirty="0"/>
          </a:p>
        </p:txBody>
      </p:sp>
      <p:sp>
        <p:nvSpPr>
          <p:cNvPr id="9" name="Shape 7"/>
          <p:cNvSpPr/>
          <p:nvPr/>
        </p:nvSpPr>
        <p:spPr>
          <a:xfrm>
            <a:off x="6492240" y="3657600"/>
            <a:ext cx="4937760" cy="1783080"/>
          </a:xfrm>
          <a:prstGeom prst="roundRect">
            <a:avLst>
              <a:gd name="adj" fmla="val 6154"/>
            </a:avLst>
          </a:prstGeom>
          <a:solidFill>
            <a:srgbClr val="FFFDFA"/>
          </a:solidFill>
          <a:ln w="12700">
            <a:solidFill>
              <a:srgbClr val="D8DEE8"/>
            </a:solidFill>
            <a:prstDash val="solid"/>
          </a:ln>
        </p:spPr>
      </p:sp>
      <p:sp>
        <p:nvSpPr>
          <p:cNvPr id="10" name="Text 8"/>
          <p:cNvSpPr/>
          <p:nvPr/>
        </p:nvSpPr>
        <p:spPr>
          <a:xfrm>
            <a:off x="6656832" y="3767328"/>
            <a:ext cx="460857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Technical talk track</a:t>
            </a:r>
            <a:endParaRPr lang="en-US" sz="1000" dirty="0"/>
          </a:p>
        </p:txBody>
      </p:sp>
      <p:sp>
        <p:nvSpPr>
          <p:cNvPr id="11" name="Text 9"/>
          <p:cNvSpPr/>
          <p:nvPr/>
        </p:nvSpPr>
        <p:spPr>
          <a:xfrm>
            <a:off x="6656832" y="4069080"/>
            <a:ext cx="4608576" cy="12710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can start with a narrow production use case, connect it to cloud modernization in motion; analytics and data consolidation agenda; AI-ready platform interest; fragmented enterprise data; reporting and workflow dependencies; need for governed AI inputs, and design for reusable platform patterns so the first launch becomes a template rather than a one-off build.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Portfolio Fit</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Mapped Google Cloud and Cognizant offers</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63040"/>
            <a:ext cx="4983480" cy="1325880"/>
          </a:xfrm>
          <a:prstGeom prst="roundRect">
            <a:avLst>
              <a:gd name="adj" fmla="val 8276"/>
            </a:avLst>
          </a:prstGeom>
          <a:solidFill>
            <a:srgbClr val="FFFDFA"/>
          </a:solidFill>
          <a:ln w="12700">
            <a:solidFill>
              <a:srgbClr val="D8DEE8"/>
            </a:solidFill>
            <a:prstDash val="solid"/>
          </a:ln>
        </p:spPr>
      </p:sp>
      <p:sp>
        <p:nvSpPr>
          <p:cNvPr id="6" name="Text 4"/>
          <p:cNvSpPr/>
          <p:nvPr/>
        </p:nvSpPr>
        <p:spPr>
          <a:xfrm>
            <a:off x="850392" y="15727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Customer Engagement Suite with Gemini</a:t>
            </a:r>
            <a:endParaRPr lang="en-US" sz="1000" dirty="0"/>
          </a:p>
        </p:txBody>
      </p:sp>
      <p:sp>
        <p:nvSpPr>
          <p:cNvPr id="7" name="Text 5"/>
          <p:cNvSpPr/>
          <p:nvPr/>
        </p:nvSpPr>
        <p:spPr>
          <a:xfrm>
            <a:off x="850392" y="18745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Reduce service friction while giving the buyer a measured path from pilot to scaled operations.</a:t>
            </a:r>
            <a:endParaRPr lang="en-US" sz="1500" dirty="0"/>
          </a:p>
        </p:txBody>
      </p:sp>
      <p:sp>
        <p:nvSpPr>
          <p:cNvPr id="8" name="Shape 6"/>
          <p:cNvSpPr/>
          <p:nvPr/>
        </p:nvSpPr>
        <p:spPr>
          <a:xfrm>
            <a:off x="6172200" y="1463040"/>
            <a:ext cx="4983480" cy="1325880"/>
          </a:xfrm>
          <a:prstGeom prst="roundRect">
            <a:avLst>
              <a:gd name="adj" fmla="val 8276"/>
            </a:avLst>
          </a:prstGeom>
          <a:solidFill>
            <a:srgbClr val="FFFDFA"/>
          </a:solidFill>
          <a:ln w="12700">
            <a:solidFill>
              <a:srgbClr val="D8DEE8"/>
            </a:solidFill>
            <a:prstDash val="solid"/>
          </a:ln>
        </p:spPr>
      </p:sp>
      <p:sp>
        <p:nvSpPr>
          <p:cNvPr id="9" name="Text 7"/>
          <p:cNvSpPr/>
          <p:nvPr/>
        </p:nvSpPr>
        <p:spPr>
          <a:xfrm>
            <a:off x="6336792" y="15727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service transformation and Neuro AI orchestration</a:t>
            </a:r>
            <a:endParaRPr lang="en-US" sz="1000" dirty="0"/>
          </a:p>
        </p:txBody>
      </p:sp>
      <p:sp>
        <p:nvSpPr>
          <p:cNvPr id="10" name="Text 8"/>
          <p:cNvSpPr/>
          <p:nvPr/>
        </p:nvSpPr>
        <p:spPr>
          <a:xfrm>
            <a:off x="6336792" y="18745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Customer Engagement Suite with Gemini.</a:t>
            </a:r>
            <a:endParaRPr lang="en-US" sz="1500" dirty="0"/>
          </a:p>
        </p:txBody>
      </p:sp>
      <p:sp>
        <p:nvSpPr>
          <p:cNvPr id="11" name="Shape 9"/>
          <p:cNvSpPr/>
          <p:nvPr/>
        </p:nvSpPr>
        <p:spPr>
          <a:xfrm>
            <a:off x="685800" y="3063240"/>
            <a:ext cx="4983480" cy="1325880"/>
          </a:xfrm>
          <a:prstGeom prst="roundRect">
            <a:avLst>
              <a:gd name="adj" fmla="val 8276"/>
            </a:avLst>
          </a:prstGeom>
          <a:solidFill>
            <a:srgbClr val="FFFDFA"/>
          </a:solidFill>
          <a:ln w="12700">
            <a:solidFill>
              <a:srgbClr val="D8DEE8"/>
            </a:solidFill>
            <a:prstDash val="solid"/>
          </a:ln>
        </p:spPr>
      </p:sp>
      <p:sp>
        <p:nvSpPr>
          <p:cNvPr id="12" name="Text 10"/>
          <p:cNvSpPr/>
          <p:nvPr/>
        </p:nvSpPr>
        <p:spPr>
          <a:xfrm>
            <a:off x="850392" y="31729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Gemini for Google Cloud</a:t>
            </a:r>
            <a:endParaRPr lang="en-US" sz="1000" dirty="0"/>
          </a:p>
        </p:txBody>
      </p:sp>
      <p:sp>
        <p:nvSpPr>
          <p:cNvPr id="13" name="Text 11"/>
          <p:cNvSpPr/>
          <p:nvPr/>
        </p:nvSpPr>
        <p:spPr>
          <a:xfrm>
            <a:off x="850392" y="34747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Improve developer throughput without creating another disconnected point solution.</a:t>
            </a:r>
            <a:endParaRPr lang="en-US" sz="1500" dirty="0"/>
          </a:p>
        </p:txBody>
      </p:sp>
      <p:sp>
        <p:nvSpPr>
          <p:cNvPr id="14" name="Shape 12"/>
          <p:cNvSpPr/>
          <p:nvPr/>
        </p:nvSpPr>
        <p:spPr>
          <a:xfrm>
            <a:off x="6172200" y="3063240"/>
            <a:ext cx="4983480" cy="1325880"/>
          </a:xfrm>
          <a:prstGeom prst="roundRect">
            <a:avLst>
              <a:gd name="adj" fmla="val 8276"/>
            </a:avLst>
          </a:prstGeom>
          <a:solidFill>
            <a:srgbClr val="FFFDFA"/>
          </a:solidFill>
          <a:ln w="12700">
            <a:solidFill>
              <a:srgbClr val="D8DEE8"/>
            </a:solidFill>
            <a:prstDash val="solid"/>
          </a:ln>
        </p:spPr>
      </p:sp>
      <p:sp>
        <p:nvSpPr>
          <p:cNvPr id="15" name="Text 13"/>
          <p:cNvSpPr/>
          <p:nvPr/>
        </p:nvSpPr>
        <p:spPr>
          <a:xfrm>
            <a:off x="6336792" y="31729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Flowsource</a:t>
            </a:r>
            <a:endParaRPr lang="en-US" sz="1000" dirty="0"/>
          </a:p>
        </p:txBody>
      </p:sp>
      <p:sp>
        <p:nvSpPr>
          <p:cNvPr id="16" name="Text 14"/>
          <p:cNvSpPr/>
          <p:nvPr/>
        </p:nvSpPr>
        <p:spPr>
          <a:xfrm>
            <a:off x="6336792" y="34747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Gemini for Google Cloud.</a:t>
            </a:r>
            <a:endParaRPr lang="en-US" sz="1500" dirty="0"/>
          </a:p>
        </p:txBody>
      </p:sp>
      <p:sp>
        <p:nvSpPr>
          <p:cNvPr id="17" name="Shape 15"/>
          <p:cNvSpPr/>
          <p:nvPr/>
        </p:nvSpPr>
        <p:spPr>
          <a:xfrm>
            <a:off x="685800" y="4663440"/>
            <a:ext cx="4983480" cy="1325880"/>
          </a:xfrm>
          <a:prstGeom prst="roundRect">
            <a:avLst>
              <a:gd name="adj" fmla="val 8276"/>
            </a:avLst>
          </a:prstGeom>
          <a:solidFill>
            <a:srgbClr val="FFFDFA"/>
          </a:solidFill>
          <a:ln w="12700">
            <a:solidFill>
              <a:srgbClr val="D8DEE8"/>
            </a:solidFill>
            <a:prstDash val="solid"/>
          </a:ln>
        </p:spPr>
      </p:sp>
      <p:sp>
        <p:nvSpPr>
          <p:cNvPr id="18" name="Text 16"/>
          <p:cNvSpPr/>
          <p:nvPr/>
        </p:nvSpPr>
        <p:spPr>
          <a:xfrm>
            <a:off x="850392" y="47731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Google Cloud | Document AI</a:t>
            </a:r>
            <a:endParaRPr lang="en-US" sz="1000" dirty="0"/>
          </a:p>
        </p:txBody>
      </p:sp>
      <p:sp>
        <p:nvSpPr>
          <p:cNvPr id="19" name="Text 17"/>
          <p:cNvSpPr/>
          <p:nvPr/>
        </p:nvSpPr>
        <p:spPr>
          <a:xfrm>
            <a:off x="850392" y="50749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Turn document-heavy work into a faster, more reliable process rather than a one-off automation experiment.</a:t>
            </a:r>
            <a:endParaRPr lang="en-US" sz="1500" dirty="0"/>
          </a:p>
        </p:txBody>
      </p:sp>
      <p:sp>
        <p:nvSpPr>
          <p:cNvPr id="20" name="Shape 18"/>
          <p:cNvSpPr/>
          <p:nvPr/>
        </p:nvSpPr>
        <p:spPr>
          <a:xfrm>
            <a:off x="6172200" y="4663440"/>
            <a:ext cx="4983480" cy="1325880"/>
          </a:xfrm>
          <a:prstGeom prst="roundRect">
            <a:avLst>
              <a:gd name="adj" fmla="val 8276"/>
            </a:avLst>
          </a:prstGeom>
          <a:solidFill>
            <a:srgbClr val="FFFDFA"/>
          </a:solidFill>
          <a:ln w="12700">
            <a:solidFill>
              <a:srgbClr val="D8DEE8"/>
            </a:solidFill>
            <a:prstDash val="solid"/>
          </a:ln>
        </p:spPr>
      </p:sp>
      <p:sp>
        <p:nvSpPr>
          <p:cNvPr id="21" name="Text 19"/>
          <p:cNvSpPr/>
          <p:nvPr/>
        </p:nvSpPr>
        <p:spPr>
          <a:xfrm>
            <a:off x="6336792" y="4773168"/>
            <a:ext cx="46542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Cognizant | Cognizant AI-led process redesign services</a:t>
            </a:r>
            <a:endParaRPr lang="en-US" sz="1000" dirty="0"/>
          </a:p>
        </p:txBody>
      </p:sp>
      <p:sp>
        <p:nvSpPr>
          <p:cNvPr id="22" name="Text 20"/>
          <p:cNvSpPr/>
          <p:nvPr/>
        </p:nvSpPr>
        <p:spPr>
          <a:xfrm>
            <a:off x="6336792" y="5074920"/>
            <a:ext cx="4654296" cy="81381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Cognizant strengthens the motion by owning workflow redesign, rollout structure, and business adoption around Document AI.</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1. Customer Service Reinvention</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SVP Customer Operations / Contact Center Leader | transformation-led executive motion for communications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High handle times, fragmented knowledge, and inconsistent case resolution.</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Reduce service friction while giving the buyer a measured path from pilot to scaled operations. The account urgency is currently framed as Ericsson is accelerating AI-native 6G across compute, connectivity, and cloud, spanning AI-driven RAN and packet core use cases.. Tailor discovery around: Ericsson is accelerating AI-native 6G across compute, connectivity, and cloud, spanning AI-driven RAN and packet core use cases. Ericsson is pushing AI deeper into network operations, including AI-driven radio features and intelligent core for resiliency and efficiency. Budget priority: AI-enabled modernization with measurable business impact Why Cognizant now: Cognizant gives ericsson a credible path from public AI ambition to measurable execution, while Google Cloud supplies the platform products that make the co-sell tangible. Priority offers: Gemini for Google Cloud, Vertex AI, BigQuery, Cognizant Flowsource, Cognizant Neuro AI Enterprise Core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Use Google Cloud to modernize the service stack and Cognizant to redesign workflows, rollout guardrails, and adoption.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Faster agent assist and summarization use cases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Containment and average-handle-time improvement narrative</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Human-in-the-loop rollout with managed change support</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do agents lose time switching across knowledge, workflow, and case history?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Which service KPIs already have executive visibility and budget attention?</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What would make a pilot credible enough to scale beyond one queue?</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Confirm service metrics and failure 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Map target journeys for assist, automation, and insights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Align on pilot success criteria and operating owners</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Customer Engagement Suite with Gemini</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service transformation and Neuro AI orchestration</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experience operations pilot, named executive sponsor, and a joint follow-up workshop led by Google Cloud and Cognizant.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2. Developer Productivity Lift</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CIO / VP Engineering / Platform Leader | transformation-led executive motion for communications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Delivery teams are under pressure to move faster without adding tool sprawl or governance risk.</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Improve developer throughput without creating another disconnected point solution. The account urgency is currently framed as Ericsson is accelerating AI-native 6G across compute, connectivity, and cloud, spanning AI-driven RAN and packet core use cases.. Tailor discovery around: Ericsson is accelerating AI-native 6G across compute, connectivity, and cloud, spanning AI-driven RAN and packet core use cases. Ericsson is pushing AI deeper into network operations, including AI-driven radio features and intelligent core for resiliency and efficiency. Budget priority: AI-enabled modernization with measurable business impact Why Cognizant now: Cognizant gives ericsson a credible path from public AI ambition to measurable execution, while Google Cloud supplies the platform products that make the co-sell tangible. Priority offers: Gemini for Google Cloud, Vertex AI, BigQuery, Cognizant Flowsource, Cognizant Neuro AI Enterprise Core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Pair Gemini’s assistant layer with Flowsource to improve research, build, QA, and operating consistency across delivery teams.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Developer workflow acceleration tied to existing platform standards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 governed path for AI-assisted engineering work</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Clear narrative for adoption, enablement, and measurement</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is engineering cycle time being lost today?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How are development teams managing AI tooling across SDLC stages?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What would the platform team need to see to bless an enterprise rollout?</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Baseline developer productivity pain 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Show joint workflow from ideation through QA</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Agree on team scope, metrics, and governance checkpoints</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Gemini for Google Cloud</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Flowsource</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engineering productivity pilot, named executive sponsor, and a joint follow-up workshop led by Google Cloud and Cognizant.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3. Document Intelligence Motion</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Operations Executive / Shared Services Leader | transformation-led executive motion for communications buyers in North America.</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Shape 3"/>
          <p:cNvSpPr/>
          <p:nvPr/>
        </p:nvSpPr>
        <p:spPr>
          <a:xfrm>
            <a:off x="685800" y="1417320"/>
            <a:ext cx="3657600" cy="1188720"/>
          </a:xfrm>
          <a:prstGeom prst="roundRect">
            <a:avLst>
              <a:gd name="adj" fmla="val 9231"/>
            </a:avLst>
          </a:prstGeom>
          <a:solidFill>
            <a:srgbClr val="FFFDFA"/>
          </a:solidFill>
          <a:ln w="12700">
            <a:solidFill>
              <a:srgbClr val="D8DEE8"/>
            </a:solidFill>
            <a:prstDash val="solid"/>
          </a:ln>
        </p:spPr>
      </p:sp>
      <p:sp>
        <p:nvSpPr>
          <p:cNvPr id="6" name="Text 4"/>
          <p:cNvSpPr/>
          <p:nvPr/>
        </p:nvSpPr>
        <p:spPr>
          <a:xfrm>
            <a:off x="85039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Pain</a:t>
            </a:r>
            <a:endParaRPr lang="en-US" sz="1000" dirty="0"/>
          </a:p>
        </p:txBody>
      </p:sp>
      <p:sp>
        <p:nvSpPr>
          <p:cNvPr id="7" name="Text 5"/>
          <p:cNvSpPr/>
          <p:nvPr/>
        </p:nvSpPr>
        <p:spPr>
          <a:xfrm>
            <a:off x="85039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Manual intake, review, and handoff across high-volume documents slows the business and drives errors.</a:t>
            </a:r>
            <a:endParaRPr lang="en-US" sz="1500" dirty="0"/>
          </a:p>
        </p:txBody>
      </p:sp>
      <p:sp>
        <p:nvSpPr>
          <p:cNvPr id="8" name="Shape 6"/>
          <p:cNvSpPr/>
          <p:nvPr/>
        </p:nvSpPr>
        <p:spPr>
          <a:xfrm>
            <a:off x="4526280" y="1417320"/>
            <a:ext cx="3657600" cy="1188720"/>
          </a:xfrm>
          <a:prstGeom prst="roundRect">
            <a:avLst>
              <a:gd name="adj" fmla="val 9231"/>
            </a:avLst>
          </a:prstGeom>
          <a:solidFill>
            <a:srgbClr val="FFFDFA"/>
          </a:solidFill>
          <a:ln w="12700">
            <a:solidFill>
              <a:srgbClr val="D8DEE8"/>
            </a:solidFill>
            <a:prstDash val="solid"/>
          </a:ln>
        </p:spPr>
      </p:sp>
      <p:sp>
        <p:nvSpPr>
          <p:cNvPr id="9" name="Text 7"/>
          <p:cNvSpPr/>
          <p:nvPr/>
        </p:nvSpPr>
        <p:spPr>
          <a:xfrm>
            <a:off x="4690872" y="152704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Value hypothesis</a:t>
            </a:r>
            <a:endParaRPr lang="en-US" sz="1000" dirty="0"/>
          </a:p>
        </p:txBody>
      </p:sp>
      <p:sp>
        <p:nvSpPr>
          <p:cNvPr id="10" name="Text 8"/>
          <p:cNvSpPr/>
          <p:nvPr/>
        </p:nvSpPr>
        <p:spPr>
          <a:xfrm>
            <a:off x="4690872" y="1828800"/>
            <a:ext cx="332841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Turn document-heavy work into a faster, more reliable process rather than a one-off automation experiment. The account urgency is currently framed as Ericsson is accelerating AI-native 6G across compute, connectivity, and cloud, spanning AI-driven RAN and packet core use cases.. Tailor discovery around: Ericsson is accelerating AI-native 6G across compute, connectivity, and cloud, spanning AI-driven RAN and packet core use cases. Ericsson is pushing AI deeper into network operations, including AI-driven radio features and intelligent core for resiliency and efficiency. Budget priority: AI-enabled modernization with measurable business impact Why Cognizant now: Cognizant gives ericsson a credible path from public AI ambition to measurable execution, while Google Cloud supplies the platform products that make the co-sell tangible. Priority offers: Gemini for Google Cloud, Vertex AI, BigQuery, Cognizant Flowsource, Cognizant Neuro AI Enterprise Core</a:t>
            </a:r>
            <a:endParaRPr lang="en-US" sz="1500" dirty="0"/>
          </a:p>
        </p:txBody>
      </p:sp>
      <p:sp>
        <p:nvSpPr>
          <p:cNvPr id="11" name="Shape 9"/>
          <p:cNvSpPr/>
          <p:nvPr/>
        </p:nvSpPr>
        <p:spPr>
          <a:xfrm>
            <a:off x="8366760" y="1417320"/>
            <a:ext cx="3154680" cy="1188720"/>
          </a:xfrm>
          <a:prstGeom prst="roundRect">
            <a:avLst>
              <a:gd name="adj" fmla="val 9231"/>
            </a:avLst>
          </a:prstGeom>
          <a:solidFill>
            <a:srgbClr val="FFFDFA"/>
          </a:solidFill>
          <a:ln w="12700">
            <a:solidFill>
              <a:srgbClr val="D8DEE8"/>
            </a:solidFill>
            <a:prstDash val="solid"/>
          </a:ln>
        </p:spPr>
      </p:sp>
      <p:sp>
        <p:nvSpPr>
          <p:cNvPr id="12" name="Text 10"/>
          <p:cNvSpPr/>
          <p:nvPr/>
        </p:nvSpPr>
        <p:spPr>
          <a:xfrm>
            <a:off x="8531352" y="152704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Joint pitch</a:t>
            </a:r>
            <a:endParaRPr lang="en-US" sz="1000" dirty="0"/>
          </a:p>
        </p:txBody>
      </p:sp>
      <p:sp>
        <p:nvSpPr>
          <p:cNvPr id="13" name="Text 11"/>
          <p:cNvSpPr/>
          <p:nvPr/>
        </p:nvSpPr>
        <p:spPr>
          <a:xfrm>
            <a:off x="8531352" y="1828800"/>
            <a:ext cx="2825496" cy="67665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Lead with Google Cloud document understanding and bring Cognizant in to redesign the downstream process, controls, and adoption path. Position Google Cloud as the platform backbone and Cognizant as the delivery partner that gets the use case operational quickly.</a:t>
            </a:r>
            <a:endParaRPr lang="en-US" sz="1500" dirty="0"/>
          </a:p>
        </p:txBody>
      </p:sp>
      <p:sp>
        <p:nvSpPr>
          <p:cNvPr id="14" name="Text 12"/>
          <p:cNvSpPr/>
          <p:nvPr/>
        </p:nvSpPr>
        <p:spPr>
          <a:xfrm>
            <a:off x="68580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Reduced manual extraction and rekeying effort</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Improved turnaround and exception handling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 stronger business case because the workflow changes, not just the OCR layer</a:t>
            </a:r>
            <a:endParaRPr lang="en-US" sz="1300" dirty="0"/>
          </a:p>
        </p:txBody>
      </p:sp>
      <p:sp>
        <p:nvSpPr>
          <p:cNvPr id="15" name="Text 13"/>
          <p:cNvSpPr/>
          <p:nvPr/>
        </p:nvSpPr>
        <p:spPr>
          <a:xfrm>
            <a:off x="4389120" y="2880360"/>
            <a:ext cx="34747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Which document flows create the biggest backlog or compliance burden?</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Where do exceptions currently break the process?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How quickly could one document family be piloted with measurable savings?</a:t>
            </a:r>
            <a:endParaRPr lang="en-US" sz="1300" dirty="0"/>
          </a:p>
        </p:txBody>
      </p:sp>
      <p:sp>
        <p:nvSpPr>
          <p:cNvPr id="16" name="Text 14"/>
          <p:cNvSpPr/>
          <p:nvPr/>
        </p:nvSpPr>
        <p:spPr>
          <a:xfrm>
            <a:off x="8092440" y="2880360"/>
            <a:ext cx="3246120" cy="237744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Prioritize document families by value and complexity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Review exception paths and human review checkpoints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Define a 90-day pilot scope</a:t>
            </a:r>
            <a:endParaRPr lang="en-US" sz="1300" dirty="0"/>
          </a:p>
        </p:txBody>
      </p:sp>
      <p:sp>
        <p:nvSpPr>
          <p:cNvPr id="17" name="Text 15"/>
          <p:cNvSpPr/>
          <p:nvPr/>
        </p:nvSpPr>
        <p:spPr>
          <a:xfrm>
            <a:off x="685800" y="5669280"/>
            <a:ext cx="5120640" cy="274320"/>
          </a:xfrm>
          <a:prstGeom prst="rect">
            <a:avLst/>
          </a:prstGeom>
          <a:noFill/>
          <a:ln/>
        </p:spPr>
        <p:txBody>
          <a:bodyPr wrap="square" rtlCol="0" anchor="ctr"/>
          <a:lstStyle/>
          <a:p>
            <a:pPr indent="0" marL="0">
              <a:buNone/>
            </a:pPr>
            <a:r>
              <a:rPr lang="en-US" sz="1000" dirty="0">
                <a:solidFill>
                  <a:srgbClr val="627389"/>
                </a:solidFill>
              </a:rPr>
              <a:t>Google Cloud offer: Document AI</a:t>
            </a:r>
            <a:endParaRPr lang="en-US" sz="1000" dirty="0"/>
          </a:p>
        </p:txBody>
      </p:sp>
      <p:sp>
        <p:nvSpPr>
          <p:cNvPr id="18" name="Text 16"/>
          <p:cNvSpPr/>
          <p:nvPr/>
        </p:nvSpPr>
        <p:spPr>
          <a:xfrm>
            <a:off x="6035040" y="5669280"/>
            <a:ext cx="5120640" cy="274320"/>
          </a:xfrm>
          <a:prstGeom prst="rect">
            <a:avLst/>
          </a:prstGeom>
          <a:noFill/>
          <a:ln/>
        </p:spPr>
        <p:txBody>
          <a:bodyPr wrap="square" rtlCol="0" anchor="ctr"/>
          <a:lstStyle/>
          <a:p>
            <a:pPr indent="0" marL="0">
              <a:buNone/>
            </a:pPr>
            <a:r>
              <a:rPr lang="en-US" sz="1000" dirty="0">
                <a:solidFill>
                  <a:srgbClr val="627389"/>
                </a:solidFill>
              </a:rPr>
              <a:t>Cognizant offer: Cognizant AI-led process redesign services</a:t>
            </a:r>
            <a:endParaRPr lang="en-US" sz="1000" dirty="0"/>
          </a:p>
        </p:txBody>
      </p:sp>
      <p:sp>
        <p:nvSpPr>
          <p:cNvPr id="19" name="Text 17"/>
          <p:cNvSpPr/>
          <p:nvPr/>
        </p:nvSpPr>
        <p:spPr>
          <a:xfrm>
            <a:off x="685800" y="5989320"/>
            <a:ext cx="10515600" cy="411480"/>
          </a:xfrm>
          <a:prstGeom prst="rect">
            <a:avLst/>
          </a:prstGeom>
          <a:noFill/>
          <a:ln/>
        </p:spPr>
        <p:txBody>
          <a:bodyPr wrap="square" rtlCol="0" anchor="ctr"/>
          <a:lstStyle/>
          <a:p>
            <a:pPr indent="0" marL="0">
              <a:buNone/>
            </a:pPr>
            <a:r>
              <a:rPr lang="en-US" sz="1200" b="1" dirty="0">
                <a:solidFill>
                  <a:srgbClr val="17263B"/>
                </a:solidFill>
              </a:rPr>
              <a:t>Next step: Leave the first meeting with agreement on one intelligent operations pilot, named executive sponsor, and a joint follow-up workshop led by Google Cloud and Cognizant.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Talk Tracks and Next Actions</a:t>
            </a:r>
            <a:endParaRPr lang="en-US" sz="2400" dirty="0"/>
          </a:p>
        </p:txBody>
      </p:sp>
      <p:sp>
        <p:nvSpPr>
          <p:cNvPr id="3" name="Shape 1"/>
          <p:cNvSpPr/>
          <p:nvPr/>
        </p:nvSpPr>
        <p:spPr>
          <a:xfrm>
            <a:off x="548640" y="960120"/>
            <a:ext cx="10607040" cy="0"/>
          </a:xfrm>
          <a:prstGeom prst="line">
            <a:avLst/>
          </a:prstGeom>
          <a:noFill/>
          <a:ln w="12700">
            <a:solidFill>
              <a:srgbClr val="D8DEE8"/>
            </a:solidFill>
            <a:prstDash val="solid"/>
          </a:ln>
        </p:spPr>
      </p:sp>
      <p:sp>
        <p:nvSpPr>
          <p:cNvPr id="4" name="Shape 2"/>
          <p:cNvSpPr/>
          <p:nvPr/>
        </p:nvSpPr>
        <p:spPr>
          <a:xfrm>
            <a:off x="685800" y="1508760"/>
            <a:ext cx="3657600" cy="1828800"/>
          </a:xfrm>
          <a:prstGeom prst="roundRect">
            <a:avLst>
              <a:gd name="adj" fmla="val 6000"/>
            </a:avLst>
          </a:prstGeom>
          <a:solidFill>
            <a:srgbClr val="FFFDFA"/>
          </a:solidFill>
          <a:ln w="12700">
            <a:solidFill>
              <a:srgbClr val="D8DEE8"/>
            </a:solidFill>
            <a:prstDash val="solid"/>
          </a:ln>
        </p:spPr>
      </p:sp>
      <p:sp>
        <p:nvSpPr>
          <p:cNvPr id="5" name="Text 3"/>
          <p:cNvSpPr/>
          <p:nvPr/>
        </p:nvSpPr>
        <p:spPr>
          <a:xfrm>
            <a:off x="850392" y="161848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Executive</a:t>
            </a:r>
            <a:endParaRPr lang="en-US" sz="1000" dirty="0"/>
          </a:p>
        </p:txBody>
      </p:sp>
      <p:sp>
        <p:nvSpPr>
          <p:cNvPr id="6" name="Text 4"/>
          <p:cNvSpPr/>
          <p:nvPr/>
        </p:nvSpPr>
        <p:spPr>
          <a:xfrm>
            <a:off x="850392" y="1920240"/>
            <a:ext cx="332841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Ericsson does not need another AI pilot. The better story is a governed business outcome: Google Cloud provides the AI foundation and Cognizant helps your team operationalize it quickly, with the right workflow design, controls, and change support.</a:t>
            </a:r>
            <a:endParaRPr lang="en-US" sz="1500" dirty="0"/>
          </a:p>
        </p:txBody>
      </p:sp>
      <p:sp>
        <p:nvSpPr>
          <p:cNvPr id="7" name="Shape 5"/>
          <p:cNvSpPr/>
          <p:nvPr/>
        </p:nvSpPr>
        <p:spPr>
          <a:xfrm>
            <a:off x="4526280" y="1508760"/>
            <a:ext cx="3657600" cy="1828800"/>
          </a:xfrm>
          <a:prstGeom prst="roundRect">
            <a:avLst>
              <a:gd name="adj" fmla="val 6000"/>
            </a:avLst>
          </a:prstGeom>
          <a:solidFill>
            <a:srgbClr val="FFFDFA"/>
          </a:solidFill>
          <a:ln w="12700">
            <a:solidFill>
              <a:srgbClr val="D8DEE8"/>
            </a:solidFill>
            <a:prstDash val="solid"/>
          </a:ln>
        </p:spPr>
      </p:sp>
      <p:sp>
        <p:nvSpPr>
          <p:cNvPr id="8" name="Text 6"/>
          <p:cNvSpPr/>
          <p:nvPr/>
        </p:nvSpPr>
        <p:spPr>
          <a:xfrm>
            <a:off x="4690872" y="1618488"/>
            <a:ext cx="332841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Technical</a:t>
            </a:r>
            <a:endParaRPr lang="en-US" sz="1000" dirty="0"/>
          </a:p>
        </p:txBody>
      </p:sp>
      <p:sp>
        <p:nvSpPr>
          <p:cNvPr id="9" name="Text 7"/>
          <p:cNvSpPr/>
          <p:nvPr/>
        </p:nvSpPr>
        <p:spPr>
          <a:xfrm>
            <a:off x="4690872" y="1920240"/>
            <a:ext cx="332841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can start with a narrow production use case, connect it to cloud modernization in motion; analytics and data consolidation agenda; AI-ready platform interest; fragmented enterprise data; reporting and workflow dependencies; need for governed AI inputs, and design for reusable platform patterns so the first launch becomes a template rather than a one-off build.</a:t>
            </a:r>
            <a:endParaRPr lang="en-US" sz="1500" dirty="0"/>
          </a:p>
        </p:txBody>
      </p:sp>
      <p:sp>
        <p:nvSpPr>
          <p:cNvPr id="10" name="Shape 8"/>
          <p:cNvSpPr/>
          <p:nvPr/>
        </p:nvSpPr>
        <p:spPr>
          <a:xfrm>
            <a:off x="8366760" y="1508760"/>
            <a:ext cx="3154680" cy="1828800"/>
          </a:xfrm>
          <a:prstGeom prst="roundRect">
            <a:avLst>
              <a:gd name="adj" fmla="val 6000"/>
            </a:avLst>
          </a:prstGeom>
          <a:solidFill>
            <a:srgbClr val="FFFDFA"/>
          </a:solidFill>
          <a:ln w="12700">
            <a:solidFill>
              <a:srgbClr val="D8DEE8"/>
            </a:solidFill>
            <a:prstDash val="solid"/>
          </a:ln>
        </p:spPr>
      </p:sp>
      <p:sp>
        <p:nvSpPr>
          <p:cNvPr id="11" name="Text 9"/>
          <p:cNvSpPr/>
          <p:nvPr/>
        </p:nvSpPr>
        <p:spPr>
          <a:xfrm>
            <a:off x="8531352" y="1618488"/>
            <a:ext cx="2825496" cy="256032"/>
          </a:xfrm>
          <a:prstGeom prst="rect">
            <a:avLst/>
          </a:prstGeom>
          <a:noFill/>
          <a:ln/>
        </p:spPr>
        <p:txBody>
          <a:bodyPr wrap="square" rtlCol="0" anchor="ctr"/>
          <a:lstStyle/>
          <a:p>
            <a:pPr indent="0" marL="0">
              <a:buNone/>
            </a:pPr>
            <a:r>
              <a:rPr lang="en-US" sz="1000" b="1" dirty="0">
                <a:solidFill>
                  <a:srgbClr val="627389"/>
                </a:solidFill>
                <a:latin typeface="Aptos" pitchFamily="34" charset="0"/>
                <a:ea typeface="Aptos" pitchFamily="34" charset="-122"/>
                <a:cs typeface="Aptos" pitchFamily="34" charset="-120"/>
              </a:rPr>
              <a:t>Email opener</a:t>
            </a:r>
            <a:endParaRPr lang="en-US" sz="1000" dirty="0"/>
          </a:p>
        </p:txBody>
      </p:sp>
      <p:sp>
        <p:nvSpPr>
          <p:cNvPr id="12" name="Text 10"/>
          <p:cNvSpPr/>
          <p:nvPr/>
        </p:nvSpPr>
        <p:spPr>
          <a:xfrm>
            <a:off x="8531352" y="1920240"/>
            <a:ext cx="2825496" cy="1316736"/>
          </a:xfrm>
          <a:prstGeom prst="rect">
            <a:avLst/>
          </a:prstGeom>
          <a:noFill/>
          <a:ln/>
        </p:spPr>
        <p:txBody>
          <a:bodyPr wrap="square" rtlCol="0" anchor="ctr">
            <a:normAutofit/>
          </a:bodyPr>
          <a:lstStyle/>
          <a:p>
            <a:pPr indent="0" marL="0">
              <a:buNone/>
            </a:pPr>
            <a:r>
              <a:rPr lang="en-US" sz="1500" dirty="0">
                <a:solidFill>
                  <a:srgbClr val="17263B"/>
                </a:solidFill>
                <a:latin typeface="Aptos" pitchFamily="34" charset="0"/>
                <a:ea typeface="Aptos" pitchFamily="34" charset="-122"/>
                <a:cs typeface="Aptos" pitchFamily="34" charset="-120"/>
              </a:rPr>
              <a:t>We see a practical co-sell path for Ericsson: pair Google Cloud AI capabilities with Cognizant delivery to launch a focused customer service reinvention motion tied to service quality and operating leverage.</a:t>
            </a:r>
            <a:endParaRPr lang="en-US" sz="1500" dirty="0"/>
          </a:p>
        </p:txBody>
      </p:sp>
      <p:sp>
        <p:nvSpPr>
          <p:cNvPr id="13" name="Text 11"/>
          <p:cNvSpPr/>
          <p:nvPr/>
        </p:nvSpPr>
        <p:spPr>
          <a:xfrm>
            <a:off x="685800" y="3840480"/>
            <a:ext cx="34747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Validate sponsor, budget pressure, and current AI program maturity.</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Choose one opening workflow where Google Cloud product value and Cognizant services value are both obvious.</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Run a joint discovery workshop and translate findings into a 90-day pilot proposal.</a:t>
            </a:r>
            <a:endParaRPr lang="en-US" sz="1300" dirty="0"/>
          </a:p>
        </p:txBody>
      </p:sp>
      <p:sp>
        <p:nvSpPr>
          <p:cNvPr id="14" name="Text 12"/>
          <p:cNvSpPr/>
          <p:nvPr/>
        </p:nvSpPr>
        <p:spPr>
          <a:xfrm>
            <a:off x="4389120" y="3840480"/>
            <a:ext cx="34747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Assign Google Cloud to lead platform and product positioning in the first meeting.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Assign Cognizant to lead workflow transformation, delivery shape, and adoption planning.</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Bring a joint point of view on success metrics, governance, and rollout sequencing.</a:t>
            </a:r>
            <a:endParaRPr lang="en-US" sz="1300" dirty="0"/>
          </a:p>
        </p:txBody>
      </p:sp>
      <p:sp>
        <p:nvSpPr>
          <p:cNvPr id="15" name="Text 13"/>
          <p:cNvSpPr/>
          <p:nvPr/>
        </p:nvSpPr>
        <p:spPr>
          <a:xfrm>
            <a:off x="8092440" y="3840480"/>
            <a:ext cx="3246120" cy="201168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One-page account hypothesis and target-buyer map</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Reference architecture sketch tied to the opening use case</a:t>
            </a:r>
            <a:endParaRPr lang="en-US" sz="1300" dirty="0"/>
          </a:p>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Pilot success metrics and change-management assumptions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400" b="1" dirty="0">
                <a:solidFill>
                  <a:srgbClr val="17263B"/>
                </a:solidFill>
                <a:latin typeface="Aptos Display" pitchFamily="34" charset="0"/>
                <a:ea typeface="Aptos Display" pitchFamily="34" charset="-122"/>
                <a:cs typeface="Aptos Display" pitchFamily="34" charset="-120"/>
              </a:rPr>
              <a:t>Sources and Research Notes</a:t>
            </a:r>
            <a:endParaRPr lang="en-US" sz="2400" dirty="0"/>
          </a:p>
        </p:txBody>
      </p:sp>
      <p:sp>
        <p:nvSpPr>
          <p:cNvPr id="3" name="Text 1"/>
          <p:cNvSpPr/>
          <p:nvPr/>
        </p:nvSpPr>
        <p:spPr>
          <a:xfrm>
            <a:off x="548640" y="914400"/>
            <a:ext cx="10698480" cy="365760"/>
          </a:xfrm>
          <a:prstGeom prst="rect">
            <a:avLst/>
          </a:prstGeom>
          <a:noFill/>
          <a:ln/>
        </p:spPr>
        <p:txBody>
          <a:bodyPr wrap="square" rtlCol="0" anchor="ctr"/>
          <a:lstStyle/>
          <a:p>
            <a:pPr indent="0" marL="0">
              <a:buNone/>
            </a:pPr>
            <a:r>
              <a:rPr lang="en-US" sz="1000" dirty="0">
                <a:solidFill>
                  <a:srgbClr val="627389"/>
                </a:solidFill>
                <a:latin typeface="Aptos" pitchFamily="34" charset="0"/>
                <a:ea typeface="Aptos" pitchFamily="34" charset="-122"/>
                <a:cs typeface="Aptos" pitchFamily="34" charset="-120"/>
              </a:rPr>
              <a:t>Using the local fallback generator. Add GEMINI_API_KEY to enable live web-backed research.</a:t>
            </a:r>
            <a:endParaRPr lang="en-US" sz="1000" dirty="0"/>
          </a:p>
        </p:txBody>
      </p:sp>
      <p:sp>
        <p:nvSpPr>
          <p:cNvPr id="4" name="Shape 2"/>
          <p:cNvSpPr/>
          <p:nvPr/>
        </p:nvSpPr>
        <p:spPr>
          <a:xfrm>
            <a:off x="548640" y="1325880"/>
            <a:ext cx="10607040" cy="0"/>
          </a:xfrm>
          <a:prstGeom prst="line">
            <a:avLst/>
          </a:prstGeom>
          <a:noFill/>
          <a:ln w="12700">
            <a:solidFill>
              <a:srgbClr val="D8DEE8"/>
            </a:solidFill>
            <a:prstDash val="solid"/>
          </a:ln>
        </p:spPr>
      </p:sp>
      <p:sp>
        <p:nvSpPr>
          <p:cNvPr id="5" name="Text 3"/>
          <p:cNvSpPr/>
          <p:nvPr/>
        </p:nvSpPr>
        <p:spPr>
          <a:xfrm>
            <a:off x="685800" y="1600200"/>
            <a:ext cx="10607040" cy="4480560"/>
          </a:xfrm>
          <a:prstGeom prst="rect">
            <a:avLst/>
          </a:prstGeom>
          <a:noFill/>
          <a:ln/>
        </p:spPr>
        <p:txBody>
          <a:bodyPr wrap="square" lIns="38100" tIns="38100" rIns="38100" bIns="38100" rtlCol="0" anchor="t"/>
          <a:lstStyle/>
          <a:p>
            <a:pPr marL="177800" indent="-177800">
              <a:spcAft>
                <a:spcPts val="1000"/>
              </a:spcAft>
              <a:buSzPct val="100000"/>
              <a:buChar char="•"/>
            </a:pPr>
            <a:r>
              <a:rPr lang="en-US" sz="1300" dirty="0">
                <a:solidFill>
                  <a:srgbClr val="17263B"/>
                </a:solidFill>
                <a:latin typeface="Aptos" pitchFamily="34" charset="0"/>
                <a:ea typeface="Aptos" pitchFamily="34" charset="-122"/>
                <a:cs typeface="Aptos" pitchFamily="34" charset="-120"/>
              </a:rPr>
              <a:t>No live sources were captured for this playbook.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Ericsson Cognizant GCP Playbook</dc:title>
  <dc:subject>Ericsson Cognizant GCP playbook executive deck</dc:subject>
  <dc:creator>Codex</dc:creator>
  <cp:lastModifiedBy>Codex</cp:lastModifiedBy>
  <cp:revision>1</cp:revision>
  <dcterms:created xsi:type="dcterms:W3CDTF">2026-04-14T02:00:58Z</dcterms:created>
  <dcterms:modified xsi:type="dcterms:W3CDTF">2026-04-14T02:00:58Z</dcterms:modified>
</cp:coreProperties>
</file>